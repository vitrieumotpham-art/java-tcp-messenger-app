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424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TRÌNH MẠNG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6424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87552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76656" y="3246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slide tổng hợp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2 • Bài 3 • Bài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34840" y="21031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mạng → Mô hình ứng dụng → TCP Socket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462272" y="32461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/ TCP-IP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Client/Server &amp; P2P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TCP, Port, IP, Socket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truyền thông &amp; phân tầng mạng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070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tính phải kết nối theo một cấu trúc mạng (topology).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Truyền/nhận dữ liệu theo các quy định thống nhất (protocol).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truyền thông được chia thành nhiều tầng/lớp để giảm độ phức tạp.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trao đổi dữ liệu giữa các tầng kề nhau; bên gửi đi từ tầng cao xuống thấp, bên nhận đi ngược lại.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452628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32404" y="47091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33572" y="452628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6724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vận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0176" y="47091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81344" y="452628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cận mạng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27948" y="470916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29116" y="452628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2268" y="472744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B5563"/>
                </a:solidFill>
              </a:rPr>
              <a:t>Phân tầng = chia hệ thống thành các mô-đun độc lập, dễ thiết kế và cài đặt.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OSI 7 tầng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61872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441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876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77640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Dịch vụ cho ứng dụng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025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568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Presentation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77640" y="19568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Biểu diễn, chuyển đổi, nén/mã hóa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578608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609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615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Session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26151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Thiết lập &amp; quản lý phiên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236976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192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Transport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3273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Kết nối, lỗi, điều khiển luồng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895344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776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Network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77640" y="3931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Địa chỉ &amp; định tuyến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636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590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Data Link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77640" y="4590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Frame &amp; kiểm tra lỗi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5212080"/>
            <a:ext cx="658368" cy="47548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943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5248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Physical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977640" y="5248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</a:rPr>
              <a:t>Truyền bit qua môi trường vật lý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B3C"/>
                </a:solidFill>
                <a:latin typeface="Aptos"/>
              </a:rPr>
              <a:t>TCP/IP và quá trình đóng gói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75882"/>
                </a:solidFill>
                <a:latin typeface="Aptos"/>
              </a:rPr>
              <a:t>Góc nhìn lập trình: 3 tầng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4572000" cy="77724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Application
Chương trình ứng dụng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4572000" cy="777240"/>
          </a:xfrm>
          <a:prstGeom prst="roundRect">
            <a:avLst/>
          </a:prstGeom>
          <a:solidFill>
            <a:srgbClr val="E7F4EA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Transport
Giao thức truyền thông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20440"/>
            <a:ext cx="4572000" cy="777240"/>
          </a:xfrm>
          <a:prstGeom prst="roundRect">
            <a:avLst/>
          </a:prstGeom>
          <a:solidFill>
            <a:srgbClr val="FAF1DE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Network Access
Máy tính &amp; mạng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4480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C697A"/>
                </a:solidFill>
                <a:latin typeface="Aptos"/>
              </a:rPr>
              <a:t>Mỗi tầng đảm nhận một phần công việc
và phối hợp với các tầng còn lại.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024128"/>
            <a:ext cx="5669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75882"/>
                </a:solidFill>
                <a:latin typeface="Aptos"/>
              </a:rPr>
              <a:t>Đóng gói / tháo gói dữ liệu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874519"/>
            <a:ext cx="1051560" cy="96012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2B3C"/>
                </a:solidFill>
                <a:latin typeface="Aptos"/>
              </a:rPr>
              <a:t>Ứng dụng gửi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359152"/>
            <a:ext cx="137160" cy="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95160" y="1874519"/>
            <a:ext cx="1371600" cy="960120"/>
          </a:xfrm>
          <a:prstGeom prst="roundRect">
            <a:avLst/>
          </a:prstGeom>
          <a:solidFill>
            <a:srgbClr val="E7F4EA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2B3C"/>
                </a:solidFill>
                <a:latin typeface="Aptos"/>
              </a:rPr>
              <a:t>Chia đoạn + thêm header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6760" y="2359152"/>
            <a:ext cx="182880" cy="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49640" y="1874519"/>
            <a:ext cx="1143000" cy="96012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2B3C"/>
                </a:solidFill>
                <a:latin typeface="Aptos"/>
              </a:rPr>
              <a:t>Truyền qua mạng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92640" y="2359152"/>
            <a:ext cx="182880" cy="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75520" y="1874519"/>
            <a:ext cx="1051560" cy="960120"/>
          </a:xfrm>
          <a:prstGeom prst="roundRect">
            <a:avLst/>
          </a:prstGeom>
          <a:solidFill>
            <a:srgbClr val="E7F4EA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2B3C"/>
                </a:solidFill>
                <a:latin typeface="Aptos"/>
              </a:rPr>
              <a:t>Kiểm tra + ghép lại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27080" y="2359152"/>
            <a:ext cx="45720" cy="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972800" y="1874519"/>
            <a:ext cx="914400" cy="96012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F2B3C"/>
                </a:solidFill>
                <a:latin typeface="Aptos"/>
              </a:rPr>
              <a:t>Ứng dụng nhận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24612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C697A"/>
                </a:solidFill>
                <a:latin typeface="Aptos"/>
              </a:rPr>
              <a:t>Bên gửi: dữ liệu được chia thành các phần và bổ sung header
trước khi truyền. Bên nhận thực hiện ngược lại: kiểm tra,
ghép dữ liệu rồi chuyển lên ứng dụng.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572000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75882"/>
                </a:solidFill>
                <a:latin typeface="Aptos"/>
              </a:rPr>
              <a:t>Ví dụ với TCP: dữ liệu ứng dụng → segment → truyền qua IP → nhận → ghép lại.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B3C"/>
                </a:solidFill>
                <a:latin typeface="Aptos"/>
              </a:rPr>
              <a:t>Mô hình ứng dụng Client/Server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5C697A"/>
                </a:solidFill>
                <a:latin typeface="Aptos"/>
              </a:rPr>
              <a:t>Client chủ động yêu cầu → Server xử lý → Server trả dịch vụ.</a:t>
            </a:r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 flipH="1">
            <a:off x="2542032" y="2514600"/>
            <a:ext cx="1843479" cy="141732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199632" y="2514600"/>
            <a:ext cx="0" cy="141732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 flipH="1" flipV="1">
            <a:off x="7863840" y="2382253"/>
            <a:ext cx="1737360" cy="1549667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600200"/>
            <a:ext cx="3520440" cy="914400"/>
          </a:xfrm>
          <a:prstGeom prst="roundRect">
            <a:avLst/>
          </a:prstGeom>
          <a:solidFill>
            <a:srgbClr val="275882"/>
          </a:solidFill>
          <a:ln w="15240">
            <a:solidFill>
              <a:srgbClr val="275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SERVER
Quản lý tài nguyên • Cung cấp dịch vụ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2743200" cy="82296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B3C"/>
                </a:solidFill>
                <a:latin typeface="Aptos"/>
              </a:rPr>
              <a:t>Client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931920"/>
            <a:ext cx="2743200" cy="82296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B3C"/>
                </a:solidFill>
                <a:latin typeface="Aptos"/>
              </a:rPr>
              <a:t>Client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931920"/>
            <a:ext cx="2743200" cy="82296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2B3C"/>
                </a:solidFill>
                <a:latin typeface="Aptos"/>
              </a:rPr>
              <a:t>Client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75882"/>
                </a:solidFill>
                <a:latin typeface="Aptos"/>
              </a:rPr>
              <a:t>↑ Request: Client → Server     ↓ Response: Server →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4243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C697A"/>
                </a:solidFill>
                <a:latin typeface="Aptos"/>
              </a:rPr>
              <a:t>Ví dụ: Web, Email, FTP.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trưng, ưu điểm và hạn chế của Client/Server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9632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 &amp; ưu điểm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73952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chủ động yêu cầu; server chờ và xử lý.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tập trung quản lý tài nguyên và dữ liệu.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khả năng mở rộng, tích hợp công nghệ mới.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quản lý &amp; bảo mật.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và bảo trì phức tạp.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vào độ tin cậy của mạng.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thiết kế, cài đặt và bảo trì lớn.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xử lý xung đột, tương thích và cấu hình.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2-tier và 3-tier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2-TIER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02667" y="3456432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+ Business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54496" y="2944368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Logic nghiệp vụ có thể nằm ở client, server hoặc chia giữa hai bên.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5352" y="14173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3-TIER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768" y="2934743"/>
            <a:ext cx="3316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89632" y="2926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61616" y="2944368"/>
            <a:ext cx="3316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vi-VN" sz="1600" dirty="0"/>
              <a:t>SERVER </a:t>
            </a:r>
            <a:r>
              <a:rPr lang="vi-VN" sz="1600" dirty="0" err="1"/>
              <a:t>Business</a:t>
            </a:r>
            <a:r>
              <a:rPr lang="vi-VN" sz="1600" dirty="0"/>
              <a:t>/</a:t>
            </a:r>
            <a:r>
              <a:rPr lang="vi-VN" sz="1600" dirty="0" err="1"/>
              <a:t>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2024" y="2926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68961" y="2933540"/>
            <a:ext cx="6677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Tách riêng lớp nghiệp vụ giúp tăng hiệu năng, linh hoạt, bảo trì và dùng lại.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7C26FFA-E119-6EB8-0D33-DD149243B349}"/>
              </a:ext>
            </a:extLst>
          </p:cNvPr>
          <p:cNvSpPr/>
          <p:nvPr/>
        </p:nvSpPr>
        <p:spPr>
          <a:xfrm>
            <a:off x="9421489" y="2944368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26C583A1-E2B7-D5E5-3B49-397CE7991063}"/>
              </a:ext>
            </a:extLst>
          </p:cNvPr>
          <p:cNvSpPr/>
          <p:nvPr/>
        </p:nvSpPr>
        <p:spPr>
          <a:xfrm>
            <a:off x="8161020" y="2944368"/>
            <a:ext cx="11141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vi-VN" sz="1600" dirty="0" err="1"/>
              <a:t>Business</a:t>
            </a:r>
            <a:r>
              <a:rPr lang="vi-VN" sz="1600" dirty="0"/>
              <a:t> </a:t>
            </a:r>
            <a:endParaRPr lang="en-US" sz="16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F9E89818-5582-877E-DEA6-FCC95737AC53}"/>
              </a:ext>
            </a:extLst>
          </p:cNvPr>
          <p:cNvSpPr/>
          <p:nvPr/>
        </p:nvSpPr>
        <p:spPr>
          <a:xfrm>
            <a:off x="6534912" y="2926080"/>
            <a:ext cx="11812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vi-VN" sz="1600" dirty="0" err="1"/>
              <a:t>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F2B3C"/>
                </a:solidFill>
                <a:latin typeface="Aptos"/>
              </a:rPr>
              <a:t>Mô hình P2P (Peer-to-Peer)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5C697A"/>
                </a:solidFill>
                <a:latin typeface="Aptos"/>
              </a:rPr>
              <a:t>Mỗi peer vừa cung cấp vừa sử dụng tài nguyên; không phụ thuộc vào một server trung tâm.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760220" y="1943100"/>
            <a:ext cx="2743200" cy="41148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03420" y="1943100"/>
            <a:ext cx="2834640" cy="41148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338060" y="1943100"/>
            <a:ext cx="2743199" cy="41148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60220" y="2354580"/>
            <a:ext cx="1188719" cy="164592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03420" y="1943100"/>
            <a:ext cx="1280160" cy="182880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783580" y="2354580"/>
            <a:ext cx="1554480" cy="141732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618219" y="1943100"/>
            <a:ext cx="1463040" cy="205740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48939" y="3771900"/>
            <a:ext cx="2834641" cy="22860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83580" y="3771900"/>
            <a:ext cx="2834639" cy="22860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60220" y="2354580"/>
            <a:ext cx="4023360" cy="1417320"/>
          </a:xfrm>
          <a:prstGeom prst="line">
            <a:avLst/>
          </a:prstGeom>
          <a:ln w="19050">
            <a:solidFill>
              <a:srgbClr val="5C69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" y="2011680"/>
            <a:ext cx="1508760" cy="68580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Peer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1600200"/>
            <a:ext cx="1508760" cy="685800"/>
          </a:xfrm>
          <a:prstGeom prst="roundRect">
            <a:avLst/>
          </a:prstGeom>
          <a:solidFill>
            <a:srgbClr val="E7F4EA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Peer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011680"/>
            <a:ext cx="1508760" cy="68580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Peer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600200"/>
            <a:ext cx="1508760" cy="685800"/>
          </a:xfrm>
          <a:prstGeom prst="roundRect">
            <a:avLst/>
          </a:prstGeom>
          <a:solidFill>
            <a:srgbClr val="E7F4EA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Peer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3657600"/>
            <a:ext cx="1508760" cy="68580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Peer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429000"/>
            <a:ext cx="1508760" cy="685800"/>
          </a:xfrm>
          <a:prstGeom prst="roundRect">
            <a:avLst/>
          </a:prstGeom>
          <a:solidFill>
            <a:srgbClr val="E7F4EA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Peer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657600"/>
            <a:ext cx="1508760" cy="685800"/>
          </a:xfrm>
          <a:prstGeom prst="roundRect">
            <a:avLst/>
          </a:prstGeom>
          <a:solidFill>
            <a:srgbClr val="E8F0F7"/>
          </a:solidFill>
          <a:ln w="15240">
            <a:solidFill>
              <a:srgbClr val="96A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F2B3C"/>
                </a:solidFill>
                <a:latin typeface="Aptos"/>
              </a:rPr>
              <a:t>Peer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800600"/>
            <a:ext cx="8595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1F2B3C"/>
                </a:solidFill>
                <a:latin typeface="Aptos"/>
              </a:rPr>
              <a:t>• Các node hoạt động tương đối độc lập
• Có thể tham gia hoặc rời mạng
• Cùng đóng góp bandwidth, storage và CPU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15000"/>
            <a:ext cx="8595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75882"/>
                </a:solidFill>
                <a:latin typeface="Aptos"/>
              </a:rPr>
              <a:t>Điểm khác biệt: không có một server trung tâm giữ toàn bộ tài nguyên.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Ưu/nhược điểm và ứng dụng P2P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9632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73952" y="1572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Nhược điểm &amp; ứng dụng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hiệu quả bandwidth, storage, CPU.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mở rộng cao.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“thắt cổ chai” tại một điểm trung tâm.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tính phân tán và không phụ thuộc một điểm duy nhất.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và kiểm soát tài nguyên là vấn đề.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có thể rời mạng đột ngột.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dụng: chia sẻ file, game nhiều người, cộng tác, tính toán phân tán, Ad-hoc.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TCP, Port, IP và Socket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288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TCP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256032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Hướng kết nối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Truyền tin cậy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Kênh point-to-point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62272" y="1508760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432" y="18288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PORT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82312" y="256032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Số hiệu gắn với tiến trình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0–1023: cổng thông dụng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1024–65535: cổng động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84464" y="1508760"/>
            <a:ext cx="34015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21624" y="182880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</a:rPr>
              <a:t>SOCKET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04504" y="2560320"/>
            <a:ext cx="27614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Đầu cuối của truyền thông 2 chiều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Gắn với IP + Port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Kết nối • gửi/nhận • đóng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</a:rPr>
              <a:t>Ví dụ port nổi tiếng: HTTP 80 • FTP 21 • Telnet 23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lập trình TCP Socket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SERVER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63068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16480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17648" y="1874520"/>
            <a:ext cx="163068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0800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48328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9496" y="1874520"/>
            <a:ext cx="163068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2648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0176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1344" y="1874520"/>
            <a:ext cx="163068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2024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13192" y="1874520"/>
            <a:ext cx="1630680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6344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send/recv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43872" y="205740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45040" y="1874520"/>
            <a:ext cx="163068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18192" y="2075688"/>
            <a:ext cx="1484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CLIENT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5800" y="388620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32404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433572" y="388620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6724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80176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81344" y="3886200"/>
            <a:ext cx="2546604" cy="8686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send/recv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27948" y="4069080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929116" y="3886200"/>
            <a:ext cx="2546604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2268" y="4087368"/>
            <a:ext cx="2400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57150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</a:rPr>
              <a:t>Java: ServerSocket ở phía server; Socket ở phía client; dữ liệu trao đổi qua InputStream / OutputStream.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TCP &amp; Server đa tuyến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Time Server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96112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mở port 7000.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kết nối đến server.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lấy thời gian và gửi qua socket.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nhận và hiển thị thời gian.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3412"/>
                </a:solidFill>
              </a:rPr>
              <a:t>Vấn đề: chỉ xử lý 1 client tại một thời điểm.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4E79"/>
                </a:solidFill>
              </a:rPr>
              <a:t>Threaded Server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5720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client kết nối → tạo một thread.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thread phụ trách truyền/nhận với một client.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nhiều client kết nối đồng thời.</a:t>
            </a:r>
            <a:endParaRPr lang="en-US" sz="1600" dirty="0"/>
          </a:p>
          <a:p>
            <a:pPr marL="254000" indent="-2540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tiêu biểu: Chat Room TCP.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3952" y="4983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Mục tiêu bài tập: server quản lý nhiều client và phát thông điệp đến các client khác.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996</Words>
  <Application>Microsoft Office PowerPoint</Application>
  <PresentationFormat>Màn hình rộng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mạng – 12 slide</dc:title>
  <dc:subject>Lập trình mạng</dc:subject>
  <dc:creator>OpenAI</dc:creator>
  <cp:lastModifiedBy>Vy Phạm</cp:lastModifiedBy>
  <cp:revision>2</cp:revision>
  <dcterms:created xsi:type="dcterms:W3CDTF">2026-08-24T16:19:11Z</dcterms:created>
  <dcterms:modified xsi:type="dcterms:W3CDTF">2026-08-25T02:21:37Z</dcterms:modified>
</cp:coreProperties>
</file>
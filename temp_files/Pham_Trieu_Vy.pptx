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5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691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MẠNG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87552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76656" y="3246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slide tổng hợp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2 • Bài 3 • Bài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34840" y="2103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mạng → Mô hình ứng dụng → TCP Socket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462272" y="32461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/ TCP-IP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Client/Server &amp; P2P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Port, IP, Socket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TCP &amp; Threaded Server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truyền thông &amp; phân tầng mạng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07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tính phải kết nối theo một cấu trúc mạng (topology).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Truyền/nhận dữ liệu theo các quy định thống nhất (protocol).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truyền thông được chia thành nhiều tầng/lớp để giảm độ phức tạp.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trao đổi dữ liệu giữa các tầng kề nhau; bên gửi đi từ tầng cao xuống thấp, bên nhận đi ngược lại.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452628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2404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33572" y="452628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6724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vận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0176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1344" y="452628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cận mạng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27948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29116" y="452628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2268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B5563"/>
                </a:solidFill>
              </a:rPr>
              <a:t>Phân tầng = chia hệ thống thành các mô-đun độc lập, dễ thiết kế và cài đặt.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OSI 7 tầng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61872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441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7764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Dịch vụ cho ứng dụng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02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568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Presentation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7640" y="1956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Biểu diễn, chuyển đổi, nén/mã hóa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578608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609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2615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Thiết lập &amp; quản lý phiên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236976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Transport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Kết nối, lỗi, điều khiển luồng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77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Network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7764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Địa chỉ &amp; định tuyến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636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Data Link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4590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Frame &amp; kiểm tra lỗi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5212080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943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248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Physical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77640" y="5248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Truyền bit qua môi trường vật lý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và quá trình đóng gói dữ liệu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984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</a:rPr>
              <a:t>Góc nhìn lập trình có thể rút gọn thành 3 tầng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206240" cy="749808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75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14600" y="19751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Chương trình ứng dụng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206240" cy="74980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266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Transport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4600" y="302666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Giao thức truyền thông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4206240" cy="749808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Network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4078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Máy tính &amp; mạng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298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4E79"/>
                </a:solidFill>
              </a:rPr>
              <a:t>Đóng gói / tháo gói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85800" y="2423160"/>
            <a:ext cx="199705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624328"/>
            <a:ext cx="1850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gửi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82850" y="260604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884018" y="2423160"/>
            <a:ext cx="199705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7170" y="2624328"/>
            <a:ext cx="1850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đoạn + thêm header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81067" y="260604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82235" y="2423160"/>
            <a:ext cx="199705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5387" y="2624328"/>
            <a:ext cx="1850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 qua mạng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79285" y="260604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80453" y="2423160"/>
            <a:ext cx="199705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3605" y="2624328"/>
            <a:ext cx="1850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+ ghép lại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7502" y="260604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478670" y="2423160"/>
            <a:ext cx="199705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1822" y="2624328"/>
            <a:ext cx="18507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nhận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Bên nhận thực hiện ngược lại: tập hợp, kiểm tra và chuyển dữ liệu lên ứng dụng.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ứng dụng Client/Server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618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Mô hình ứng dụng mạng phổ biến: một server cung cấp dịch vụ cho một hoặc nhiều client.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34840" y="2377440"/>
            <a:ext cx="3108960" cy="9144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0" y="25786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Quản lý tài nguyên • Cung cấp dịch vụ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343400"/>
            <a:ext cx="2743200" cy="7772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Client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4343400"/>
            <a:ext cx="2743200" cy="7772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Client 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4343400"/>
            <a:ext cx="2743200" cy="7772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Client 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240280" y="4315968"/>
            <a:ext cx="2194560" cy="0"/>
          </a:xfrm>
          <a:prstGeom prst="line">
            <a:avLst/>
          </a:prstGeom>
          <a:noFill/>
          <a:ln w="12700">
            <a:solidFill>
              <a:srgbClr val="7C8A9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4315968"/>
            <a:ext cx="914400" cy="0"/>
          </a:xfrm>
          <a:prstGeom prst="line">
            <a:avLst/>
          </a:prstGeom>
          <a:noFill/>
          <a:ln w="12700">
            <a:solidFill>
              <a:srgbClr val="7C8A9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0" y="4315968"/>
            <a:ext cx="0" cy="0"/>
          </a:xfrm>
          <a:prstGeom prst="line">
            <a:avLst/>
          </a:prstGeom>
          <a:noFill/>
          <a:ln w="12700">
            <a:solidFill>
              <a:srgbClr val="7C8A9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103120" y="55778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Client khởi tạo yêu cầu → Server xử lý và trả dịch vụ.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trưng, ưu điểm và hạn chế của Client/Server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&amp; ưu điểm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3952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chủ động yêu cầu; server chờ và xử lý.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tập trung quản lý tài nguyên và dữ liệu.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khả năng mở rộng, tích hợp công nghệ mới.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quản lý &amp; bảo mật.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và bảo trì phức tạp.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vào độ tin cậy của mạng.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thiết kế, cài đặt và bảo trì lớn.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xử lý xung đột, tương thích và cấu hình.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2-tier và 3-tier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2-TIER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5294376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944368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+ Business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80176" y="2926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81344" y="2743200"/>
            <a:ext cx="5294376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4496" y="2944368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Logic nghiệp vụ có thể nằm ở client, server hoặc chia giữa hai bên.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5352" y="14173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3-TIER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3462528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944368"/>
            <a:ext cx="331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48328" y="2926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49496" y="2743200"/>
            <a:ext cx="3462528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2648" y="2944368"/>
            <a:ext cx="331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2024" y="2926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13192" y="2743200"/>
            <a:ext cx="3462528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6344" y="2944368"/>
            <a:ext cx="331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Tách riêng lớp nghiệp vụ giúp tăng hiệu năng, linh hoạt, bảo trì và dùng lại.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P2P (Peer-to-Peer)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Mỗi peer vừa cung cấp vừa sử dụng tài nguyên; không tập trung toàn bộ vào một server trung tâm.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377440"/>
            <a:ext cx="1188720" cy="914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670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828800"/>
            <a:ext cx="118872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2377440"/>
            <a:ext cx="1188720" cy="914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670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26880" y="1828800"/>
            <a:ext cx="118872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4206240"/>
            <a:ext cx="1188720" cy="914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498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0" y="4526280"/>
            <a:ext cx="1188720" cy="9144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818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21040" y="4206240"/>
            <a:ext cx="1188720" cy="914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7C8A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4498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Peer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57400" y="2834640"/>
            <a:ext cx="2651760" cy="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286000"/>
            <a:ext cx="2651760" cy="54864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834640"/>
            <a:ext cx="2560320" cy="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2834640"/>
            <a:ext cx="1097280" cy="182880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286000"/>
            <a:ext cx="1371600" cy="269748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2834640"/>
            <a:ext cx="0" cy="214884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2286000"/>
            <a:ext cx="0" cy="237744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4663440"/>
            <a:ext cx="2926080" cy="32004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4983480"/>
            <a:ext cx="2834640" cy="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286000"/>
            <a:ext cx="0" cy="237744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2834640"/>
            <a:ext cx="1554480" cy="1828800"/>
          </a:xfrm>
          <a:prstGeom prst="line">
            <a:avLst/>
          </a:prstGeom>
          <a:noFill/>
          <a:ln w="12700">
            <a:solidFill>
              <a:srgbClr val="A0A9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5486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• Các node độc lập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• Có thể tham gia/rời mạng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• Cùng đóng góp bandwidth, storage, CPU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Ưu/nhược điểm và ứng dụng P2P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3952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Nhược điểm &amp; ứng dụng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hiệu quả bandwidth, storage, CPU.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mở rộng cao.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“thắt cổ chai” tại một điểm trung tâm.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tính phân tán và không phụ thuộc một điểm duy nhất.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và kiểm soát tài nguyên là vấn đề.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có thể rời mạng đột ngột.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dụng: chia sẻ file, game nhiều người, cộng tác, tính toán phân tán, Ad-hoc.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Port, IP và Socket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TCP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Hướng kết nối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Truyền tin cậy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Kênh point-to-point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62272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PORT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82312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Số hiệu gắn với tiến trình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0–1023: cổng thông dụng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1024–65535: cổng động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84464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21624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SOCKET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04504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Đầu cuối của truyền thông 2 chiều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Gắn với IP + Port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Kết nối • gửi/nhận • đóng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Ví dụ port nổi tiếng: HTTP 80 • FTP 21 • Telnet 23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lập trình TCP Socket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16480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7648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0800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48328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9496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2648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0176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2024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3192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6344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send/recv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43872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45040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8192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CLIENT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32404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433572" y="388620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6724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0176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81344" y="388620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send/recv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27948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929116" y="388620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2268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Java: ServerSocket ở phía server; Socket ở phía client; dữ liệu trao đổi qua InputStream / OutputStream.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TCP &amp; Server đa tuyến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Time Server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96112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mở port 7000.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kết nối đến server.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lấy thời gian và gửi qua socket.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nhận và hiển thị thời gian.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3412"/>
                </a:solidFill>
              </a:rPr>
              <a:t>Vấn đề: chỉ xử lý 1 client tại một thời điểm.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Threaded Server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client kết nối → tạo một thread.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thread phụ trách truyền/nhận với một client.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nhiều client kết nối đồng thời.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tiêu biểu: Chat Room TCP.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Mục tiêu bài tập: server quản lý nhiều client và phát thông điệp đến các client khác.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921</Words>
  <Application>Microsoft Office PowerPoint</Application>
  <PresentationFormat>Màn hình rộng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mạng – 12 slide</dc:title>
  <dc:subject>Lập trình mạng</dc:subject>
  <dc:creator>OpenAI</dc:creator>
  <cp:lastModifiedBy>Vy Phạm</cp:lastModifiedBy>
  <cp:revision>2</cp:revision>
  <dcterms:created xsi:type="dcterms:W3CDTF">2026-08-24T16:19:11Z</dcterms:created>
  <dcterms:modified xsi:type="dcterms:W3CDTF">2026-08-25T02:16:48Z</dcterms:modified>
</cp:coreProperties>
</file>